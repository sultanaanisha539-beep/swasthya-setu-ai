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6D6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 b="1">
                <a:solidFill>
                  <a:srgbClr val="26D6B1"/>
                </a:solidFill>
              </a:rPr>
              <a:t>SWASTHYA SETU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F5F9FC"/>
                </a:solidFill>
              </a:rPr>
              <a:t>Healthcare should not depend on distance.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2140" y="1755648"/>
            <a:ext cx="607724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dirty="0">
                <a:solidFill>
                  <a:srgbClr val="A4B8CA"/>
                </a:solidFill>
              </a:rPr>
              <a:t>AI-assisted rural health screening •</a:t>
            </a:r>
            <a:r>
              <a:rPr lang="en-US" sz="1400" b="0" dirty="0">
                <a:solidFill>
                  <a:srgbClr val="A4B8CA"/>
                </a:solidFill>
              </a:rPr>
              <a:t> lab</a:t>
            </a:r>
            <a:r>
              <a:rPr sz="1400" b="0" dirty="0">
                <a:solidFill>
                  <a:srgbClr val="A4B8CA"/>
                </a:solidFill>
              </a:rPr>
              <a:t> report understanding • </a:t>
            </a:r>
            <a:r>
              <a:rPr lang="en-US" sz="1400" b="0" dirty="0">
                <a:solidFill>
                  <a:srgbClr val="A4B8CA"/>
                </a:solidFill>
              </a:rPr>
              <a:t>clinical</a:t>
            </a:r>
            <a:r>
              <a:rPr sz="1400" b="0" dirty="0">
                <a:solidFill>
                  <a:srgbClr val="A4B8CA"/>
                </a:solidFill>
              </a:rPr>
              <a:t> connection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743200"/>
            <a:ext cx="2240280" cy="1508760"/>
          </a:xfrm>
          <a:prstGeom prst="roundRect">
            <a:avLst/>
          </a:prstGeom>
          <a:solidFill>
            <a:srgbClr val="0E1D2E"/>
          </a:solidFill>
          <a:ln>
            <a:solidFill>
              <a:srgbClr val="4BB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967650" y="2926080"/>
            <a:ext cx="166744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800" b="1" dirty="0">
                <a:solidFill>
                  <a:srgbClr val="4BB5F0"/>
                </a:solidFill>
              </a:rPr>
              <a:t>RURAL PATIENT</a:t>
            </a:r>
            <a:endParaRPr sz="1800" b="1" dirty="0">
              <a:solidFill>
                <a:srgbClr val="4BB5F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51735" y="3383280"/>
            <a:ext cx="129926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200" b="1" dirty="0">
                <a:solidFill>
                  <a:srgbClr val="F5F9FC"/>
                </a:solidFill>
              </a:rPr>
              <a:t>SYMPTOM INPUT</a:t>
            </a:r>
            <a:endParaRPr sz="1200" b="1" dirty="0">
              <a:solidFill>
                <a:srgbClr val="F5F9FC"/>
              </a:solidFill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2926080" y="3493008"/>
            <a:ext cx="548640" cy="0"/>
          </a:xfrm>
          <a:prstGeom prst="line">
            <a:avLst/>
          </a:prstGeom>
          <a:ln w="27940">
            <a:solidFill>
              <a:srgbClr val="26D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520440" y="2743200"/>
            <a:ext cx="2240280" cy="1508760"/>
          </a:xfrm>
          <a:prstGeom prst="roundRect">
            <a:avLst/>
          </a:prstGeom>
          <a:solidFill>
            <a:srgbClr val="0E1D2E"/>
          </a:solidFill>
          <a:ln>
            <a:solidFill>
              <a:srgbClr val="26D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30168" y="2926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26D6B1"/>
                </a:solidFill>
              </a:rPr>
              <a:t>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338328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5F9FC"/>
                </a:solidFill>
              </a:rPr>
              <a:t>AI SCREENING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760720" y="3493008"/>
            <a:ext cx="548640" cy="0"/>
          </a:xfrm>
          <a:prstGeom prst="line">
            <a:avLst/>
          </a:prstGeom>
          <a:ln w="27940">
            <a:solidFill>
              <a:srgbClr val="26D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355080" y="2743200"/>
            <a:ext cx="2240280" cy="1508760"/>
          </a:xfrm>
          <a:prstGeom prst="roundRect">
            <a:avLst/>
          </a:prstGeom>
          <a:solidFill>
            <a:srgbClr val="0E1D2E"/>
          </a:solidFill>
          <a:ln>
            <a:solidFill>
              <a:srgbClr val="F7B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64808" y="2926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dirty="0">
                <a:solidFill>
                  <a:srgbClr val="F7BA4D"/>
                </a:solidFill>
              </a:rPr>
              <a:t>LAB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8" y="338328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5F9FC"/>
                </a:solidFill>
              </a:rPr>
              <a:t>REPORT ANALYSIS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595360" y="3493008"/>
            <a:ext cx="548640" cy="0"/>
          </a:xfrm>
          <a:prstGeom prst="line">
            <a:avLst/>
          </a:prstGeom>
          <a:ln w="27940">
            <a:solidFill>
              <a:srgbClr val="26D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189720" y="2743200"/>
            <a:ext cx="2240280" cy="1508760"/>
          </a:xfrm>
          <a:prstGeom prst="roundRect">
            <a:avLst/>
          </a:prstGeom>
          <a:solidFill>
            <a:srgbClr val="0E1D2E"/>
          </a:solidFill>
          <a:ln>
            <a:solidFill>
              <a:srgbClr val="EF5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86558" y="2926080"/>
            <a:ext cx="103746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800" b="1" dirty="0">
                <a:solidFill>
                  <a:srgbClr val="EF5B64"/>
                </a:solidFill>
              </a:rPr>
              <a:t>CLINICAL</a:t>
            </a:r>
            <a:endParaRPr sz="1800" b="1" dirty="0">
              <a:solidFill>
                <a:srgbClr val="EF5B64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299448" y="338328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5F9FC"/>
                </a:solidFill>
              </a:rPr>
              <a:t>RIGHT CARE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4709160"/>
            <a:ext cx="3154680" cy="868680"/>
          </a:xfrm>
          <a:prstGeom prst="roundRect">
            <a:avLst/>
          </a:prstGeom>
          <a:solidFill>
            <a:srgbClr val="0E1D2E"/>
          </a:solidFill>
          <a:ln>
            <a:solidFill>
              <a:srgbClr val="26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39" y="4846320"/>
            <a:ext cx="2880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4BB5F0"/>
                </a:solidFill>
              </a:rPr>
              <a:t>DISTANCE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39" y="5120640"/>
            <a:ext cx="2880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5F9FC"/>
                </a:solidFill>
              </a:rPr>
              <a:t>Hospital / diagnostics may be far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26280" y="4709160"/>
            <a:ext cx="3154680" cy="868680"/>
          </a:xfrm>
          <a:prstGeom prst="roundRect">
            <a:avLst/>
          </a:prstGeom>
          <a:solidFill>
            <a:srgbClr val="0E1D2E"/>
          </a:solidFill>
          <a:ln>
            <a:solidFill>
              <a:srgbClr val="26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63440" y="4846320"/>
            <a:ext cx="2880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7BA4D"/>
                </a:solidFill>
              </a:rPr>
              <a:t>COST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5120640"/>
            <a:ext cx="2880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5F9FC"/>
                </a:solidFill>
              </a:rPr>
              <a:t>Travel adds financial burden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79" y="4709160"/>
            <a:ext cx="3154680" cy="868680"/>
          </a:xfrm>
          <a:prstGeom prst="roundRect">
            <a:avLst/>
          </a:prstGeom>
          <a:solidFill>
            <a:srgbClr val="0E1D2E"/>
          </a:solidFill>
          <a:ln>
            <a:solidFill>
              <a:srgbClr val="26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21040" y="4846320"/>
            <a:ext cx="2880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F5B64"/>
                </a:solidFill>
              </a:rPr>
              <a:t>DELAY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5120640"/>
            <a:ext cx="2880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5F9FC"/>
                </a:solidFill>
              </a:rPr>
              <a:t>Waiting creates uncertainty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897880"/>
            <a:ext cx="9966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0">
                <a:solidFill>
                  <a:srgbClr val="F5F9FC"/>
                </a:solidFill>
              </a:rPr>
              <a:t>Bring the first layer of healthcare closer to every rural family.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3564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4B8CA"/>
                </a:solidFill>
              </a:rPr>
              <a:t>01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FEB3FE6-265C-260C-3341-A4A46257C9CC}"/>
              </a:ext>
            </a:extLst>
          </p:cNvPr>
          <p:cNvSpPr txBox="1"/>
          <p:nvPr/>
        </p:nvSpPr>
        <p:spPr>
          <a:xfrm>
            <a:off x="9407951" y="6281928"/>
            <a:ext cx="2601798" cy="338554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C000"/>
                </a:solidFill>
              </a:rPr>
              <a:t>Presented by : Team Nexus</a:t>
            </a:r>
            <a:endParaRPr lang="en-IN" sz="1600" dirty="0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6D6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F5F9FC"/>
                </a:solidFill>
              </a:rPr>
              <a:t>The Real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5599482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300" dirty="0">
                <a:solidFill>
                  <a:srgbClr val="A4B8CA"/>
                </a:solidFill>
              </a:rPr>
              <a:t>The rural healthcare gap is about access, cost, information and timely decisions.</a:t>
            </a:r>
            <a:endParaRPr sz="1300" dirty="0">
              <a:solidFill>
                <a:srgbClr val="A4B8CA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2697480" cy="4206240"/>
          </a:xfrm>
          <a:prstGeom prst="roundRect">
            <a:avLst/>
          </a:prstGeom>
          <a:solidFill>
            <a:srgbClr val="0E1D2E"/>
          </a:solidFill>
          <a:ln>
            <a:solidFill>
              <a:srgbClr val="25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563624"/>
            <a:ext cx="2331720" cy="1234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4BB5F0"/>
                </a:solidFill>
              </a:rPr>
              <a:t>01  ACCESS GAP</a:t>
            </a:r>
          </a:p>
          <a:p>
            <a:pPr>
              <a:spcBef>
                <a:spcPts val="600"/>
              </a:spcBef>
            </a:pPr>
            <a:r>
              <a:rPr lang="en-US" sz="1230" dirty="0">
                <a:solidFill>
                  <a:srgbClr val="F5F9FC"/>
                </a:solidFill>
              </a:rPr>
              <a:t>Rural patients may live far from diagnostics and specialists</a:t>
            </a:r>
            <a:r>
              <a:rPr sz="1230" dirty="0">
                <a:solidFill>
                  <a:srgbClr val="F5F9FC"/>
                </a:solidFill>
              </a:rPr>
              <a:t>
A simple question can become a full-day journey.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93008" y="1417320"/>
            <a:ext cx="2697480" cy="4206240"/>
          </a:xfrm>
          <a:prstGeom prst="roundRect">
            <a:avLst/>
          </a:prstGeom>
          <a:solidFill>
            <a:srgbClr val="0E1D2E"/>
          </a:solidFill>
          <a:ln>
            <a:solidFill>
              <a:srgbClr val="25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75887" y="1563624"/>
            <a:ext cx="2331720" cy="1234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F7BA4D"/>
                </a:solidFill>
              </a:rPr>
              <a:t>02  COST GAP</a:t>
            </a:r>
          </a:p>
          <a:p>
            <a:pPr>
              <a:spcBef>
                <a:spcPts val="600"/>
              </a:spcBef>
            </a:pPr>
            <a:r>
              <a:rPr sz="1230" dirty="0">
                <a:solidFill>
                  <a:srgbClr val="F5F9FC"/>
                </a:solidFill>
              </a:rPr>
              <a:t>Transport </a:t>
            </a:r>
            <a:r>
              <a:rPr lang="en-US" sz="1230" dirty="0">
                <a:solidFill>
                  <a:srgbClr val="F5F9FC"/>
                </a:solidFill>
              </a:rPr>
              <a:t>,</a:t>
            </a:r>
            <a:r>
              <a:rPr sz="1230" dirty="0">
                <a:solidFill>
                  <a:srgbClr val="F5F9FC"/>
                </a:solidFill>
              </a:rPr>
              <a:t> food </a:t>
            </a:r>
            <a:r>
              <a:rPr lang="en-US" sz="1230" dirty="0">
                <a:solidFill>
                  <a:srgbClr val="F5F9FC"/>
                </a:solidFill>
              </a:rPr>
              <a:t>,</a:t>
            </a:r>
            <a:r>
              <a:rPr sz="1230" dirty="0">
                <a:solidFill>
                  <a:srgbClr val="F5F9FC"/>
                </a:solidFill>
              </a:rPr>
              <a:t> lost wages</a:t>
            </a:r>
            <a:r>
              <a:rPr lang="en-US" sz="1230" dirty="0">
                <a:solidFill>
                  <a:srgbClr val="F5F9FC"/>
                </a:solidFill>
              </a:rPr>
              <a:t> add hidden healthcare cost.</a:t>
            </a:r>
            <a:r>
              <a:rPr sz="1230" dirty="0">
                <a:solidFill>
                  <a:srgbClr val="F5F9FC"/>
                </a:solidFill>
              </a:rPr>
              <a:t>
</a:t>
            </a:r>
            <a:r>
              <a:rPr lang="en-IN" sz="1230" dirty="0">
                <a:solidFill>
                  <a:srgbClr val="F5F9FC"/>
                </a:solidFill>
              </a:rPr>
              <a:t>Distance becomes a financial barrier</a:t>
            </a:r>
            <a:r>
              <a:rPr sz="1230" dirty="0">
                <a:solidFill>
                  <a:srgbClr val="F5F9FC"/>
                </a:solidFill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91656" y="1417320"/>
            <a:ext cx="2697480" cy="4206240"/>
          </a:xfrm>
          <a:prstGeom prst="roundRect">
            <a:avLst/>
          </a:prstGeom>
          <a:solidFill>
            <a:srgbClr val="0E1D2E"/>
          </a:solidFill>
          <a:ln>
            <a:solidFill>
              <a:srgbClr val="25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74536" y="1563624"/>
            <a:ext cx="2331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6D6B1"/>
                </a:solidFill>
              </a:rPr>
              <a:t>03  INFORMATION GAP</a:t>
            </a:r>
          </a:p>
          <a:p>
            <a:pPr>
              <a:spcBef>
                <a:spcPts val="600"/>
              </a:spcBef>
            </a:pPr>
            <a:r>
              <a:rPr sz="1230">
                <a:solidFill>
                  <a:srgbClr val="F5F9FC"/>
                </a:solidFill>
              </a:rPr>
              <a:t>Patients may receive a report but not understand abnormal values or urgency.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90304" y="1417320"/>
            <a:ext cx="2331720" cy="4206240"/>
          </a:xfrm>
          <a:prstGeom prst="roundRect">
            <a:avLst/>
          </a:prstGeom>
          <a:solidFill>
            <a:srgbClr val="0E1D2E"/>
          </a:solidFill>
          <a:ln>
            <a:solidFill>
              <a:srgbClr val="25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73184" y="1563624"/>
            <a:ext cx="1965960" cy="1878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EF5B64"/>
                </a:solidFill>
              </a:rPr>
              <a:t>04  TRIAGE GAP</a:t>
            </a:r>
          </a:p>
          <a:p>
            <a:pPr>
              <a:spcBef>
                <a:spcPts val="600"/>
              </a:spcBef>
            </a:pPr>
            <a:r>
              <a:rPr sz="1230" dirty="0">
                <a:solidFill>
                  <a:srgbClr val="F5F9FC"/>
                </a:solidFill>
              </a:rPr>
              <a:t>Not every case needs the same response.
The critical question is:
“</a:t>
            </a:r>
            <a:r>
              <a:rPr lang="en-US" sz="1230" dirty="0">
                <a:solidFill>
                  <a:srgbClr val="F5F9FC"/>
                </a:solidFill>
              </a:rPr>
              <a:t>Who needs urgent care? Who needs consultation? Who can follow up routinely?”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4B8CA"/>
                </a:solidFill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6D6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F5F9FC"/>
                </a:solidFill>
              </a:rPr>
              <a:t>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4B8CA"/>
                </a:solidFill>
              </a:rPr>
              <a:t>SWASTHYA SETU is an AI-assisted care-navigation system — not a chatbot.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" y="1600200"/>
            <a:ext cx="1920240" cy="2148840"/>
          </a:xfrm>
          <a:prstGeom prst="roundRect">
            <a:avLst/>
          </a:prstGeom>
          <a:solidFill>
            <a:srgbClr val="0E1D2E"/>
          </a:solidFill>
          <a:ln>
            <a:solidFill>
              <a:srgbClr val="26D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5216" y="1847088"/>
            <a:ext cx="170078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26D6B1"/>
                </a:solidFill>
              </a:rPr>
              <a:t>VOICE / 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395728"/>
            <a:ext cx="162763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 b="0">
                <a:solidFill>
                  <a:srgbClr val="F5F9FC"/>
                </a:solidFill>
              </a:rPr>
              <a:t>Patient describes symptoms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95728" y="2670048"/>
            <a:ext cx="347472" cy="0"/>
          </a:xfrm>
          <a:prstGeom prst="line">
            <a:avLst/>
          </a:prstGeom>
          <a:ln w="27940">
            <a:solidFill>
              <a:srgbClr val="26D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07208" y="1600200"/>
            <a:ext cx="1920240" cy="2148840"/>
          </a:xfrm>
          <a:prstGeom prst="roundRect">
            <a:avLst/>
          </a:prstGeom>
          <a:solidFill>
            <a:srgbClr val="0E1D2E"/>
          </a:solidFill>
          <a:ln>
            <a:solidFill>
              <a:srgbClr val="26D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16936" y="1847088"/>
            <a:ext cx="170078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26D6B1"/>
                </a:solidFill>
              </a:rPr>
              <a:t>SMART INTAKE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53512" y="2395728"/>
            <a:ext cx="162763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 b="0">
                <a:solidFill>
                  <a:srgbClr val="F5F9FC"/>
                </a:solidFill>
              </a:rPr>
              <a:t>AI asks relevant follow-ups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727448" y="2670048"/>
            <a:ext cx="347472" cy="0"/>
          </a:xfrm>
          <a:prstGeom prst="line">
            <a:avLst/>
          </a:prstGeom>
          <a:ln w="27940">
            <a:solidFill>
              <a:srgbClr val="26D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38927" y="1600200"/>
            <a:ext cx="1920240" cy="2148840"/>
          </a:xfrm>
          <a:prstGeom prst="roundRect">
            <a:avLst/>
          </a:prstGeom>
          <a:solidFill>
            <a:srgbClr val="0E1D2E"/>
          </a:solidFill>
          <a:ln>
            <a:solidFill>
              <a:srgbClr val="26D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48655" y="1847088"/>
            <a:ext cx="170078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26D6B1"/>
                </a:solidFill>
              </a:rPr>
              <a:t>REPORT OCR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85231" y="2395728"/>
            <a:ext cx="162763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 b="0">
                <a:solidFill>
                  <a:srgbClr val="F5F9FC"/>
                </a:solidFill>
              </a:rPr>
              <a:t>Camera → test values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059167" y="2670048"/>
            <a:ext cx="347473" cy="0"/>
          </a:xfrm>
          <a:prstGeom prst="line">
            <a:avLst/>
          </a:prstGeom>
          <a:ln w="27940">
            <a:solidFill>
              <a:srgbClr val="26D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470648" y="1600200"/>
            <a:ext cx="1920240" cy="2148840"/>
          </a:xfrm>
          <a:prstGeom prst="roundRect">
            <a:avLst/>
          </a:prstGeom>
          <a:solidFill>
            <a:srgbClr val="0E1D2E"/>
          </a:solidFill>
          <a:ln>
            <a:solidFill>
              <a:srgbClr val="26D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06856" y="1847088"/>
            <a:ext cx="1647823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dirty="0">
                <a:solidFill>
                  <a:srgbClr val="26D6B1"/>
                </a:solidFill>
              </a:rPr>
              <a:t>RISK </a:t>
            </a:r>
            <a:r>
              <a:rPr lang="en-US" sz="1300" b="1" dirty="0">
                <a:solidFill>
                  <a:srgbClr val="26D6B1"/>
                </a:solidFill>
              </a:rPr>
              <a:t>STRATIFICATION</a:t>
            </a:r>
            <a:endParaRPr sz="1300" b="1" dirty="0">
              <a:solidFill>
                <a:srgbClr val="26D6B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559376" y="2395728"/>
            <a:ext cx="1742786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 b="0" dirty="0">
                <a:solidFill>
                  <a:srgbClr val="F5F9FC"/>
                </a:solidFill>
              </a:rPr>
              <a:t>Symptoms + </a:t>
            </a:r>
            <a:r>
              <a:rPr lang="en-US" sz="1150" b="0" dirty="0">
                <a:solidFill>
                  <a:srgbClr val="F5F9FC"/>
                </a:solidFill>
              </a:rPr>
              <a:t>test </a:t>
            </a:r>
            <a:r>
              <a:rPr sz="1150" b="0" dirty="0">
                <a:solidFill>
                  <a:srgbClr val="F5F9FC"/>
                </a:solidFill>
              </a:rPr>
              <a:t>values + </a:t>
            </a:r>
            <a:endParaRPr lang="en-US" sz="1150" b="0" dirty="0">
              <a:solidFill>
                <a:srgbClr val="F5F9FC"/>
              </a:solidFill>
            </a:endParaRPr>
          </a:p>
          <a:p>
            <a:pPr algn="ctr"/>
            <a:r>
              <a:rPr sz="1150" b="0" dirty="0">
                <a:solidFill>
                  <a:srgbClr val="F5F9FC"/>
                </a:solidFill>
              </a:rPr>
              <a:t>red flags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390888" y="2670048"/>
            <a:ext cx="347472" cy="0"/>
          </a:xfrm>
          <a:prstGeom prst="line">
            <a:avLst/>
          </a:prstGeom>
          <a:ln w="27940">
            <a:solidFill>
              <a:srgbClr val="26D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802367" y="1600200"/>
            <a:ext cx="1920240" cy="2148840"/>
          </a:xfrm>
          <a:prstGeom prst="roundRect">
            <a:avLst/>
          </a:prstGeom>
          <a:solidFill>
            <a:srgbClr val="0E1D2E"/>
          </a:solidFill>
          <a:ln>
            <a:solidFill>
              <a:srgbClr val="26D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40270" y="1847088"/>
            <a:ext cx="1444434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dirty="0">
                <a:solidFill>
                  <a:srgbClr val="26D6B1"/>
                </a:solidFill>
              </a:rPr>
              <a:t>CARE </a:t>
            </a:r>
            <a:r>
              <a:rPr lang="en-US" sz="1300" b="1" dirty="0">
                <a:solidFill>
                  <a:srgbClr val="26D6B1"/>
                </a:solidFill>
              </a:rPr>
              <a:t>ESCALATION</a:t>
            </a:r>
            <a:endParaRPr sz="1300" b="1" dirty="0">
              <a:solidFill>
                <a:srgbClr val="26D6B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948672" y="2395728"/>
            <a:ext cx="162763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 b="0" dirty="0">
                <a:solidFill>
                  <a:srgbClr val="F5F9FC"/>
                </a:solidFill>
              </a:rPr>
              <a:t>Doctor / worker / urgent care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" y="4160520"/>
            <a:ext cx="3063240" cy="1325880"/>
          </a:xfrm>
          <a:prstGeom prst="roundRect">
            <a:avLst/>
          </a:prstGeom>
          <a:solidFill>
            <a:srgbClr val="0E1D2E"/>
          </a:solidFill>
          <a:ln>
            <a:solidFill>
              <a:srgbClr val="25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43000" y="4306824"/>
            <a:ext cx="2697480" cy="96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26D6B1"/>
                </a:solidFill>
              </a:rPr>
              <a:t>WHAT MAKES IT SMART</a:t>
            </a:r>
            <a:endParaRPr lang="en-IN" sz="1500" b="1" dirty="0">
              <a:solidFill>
                <a:srgbClr val="26D6B1"/>
              </a:solidFill>
            </a:endParaRPr>
          </a:p>
          <a:p>
            <a:pPr>
              <a:spcBef>
                <a:spcPts val="600"/>
              </a:spcBef>
            </a:pPr>
            <a:r>
              <a:rPr lang="en-US" sz="1230" dirty="0">
                <a:solidFill>
                  <a:srgbClr val="F5F9FC"/>
                </a:solidFill>
              </a:rPr>
              <a:t>It combines symptoms, test values and red-flag indicators instead of relying on one symptom.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53712" y="4160520"/>
            <a:ext cx="3063240" cy="1325880"/>
          </a:xfrm>
          <a:prstGeom prst="roundRect">
            <a:avLst/>
          </a:prstGeom>
          <a:solidFill>
            <a:srgbClr val="0E1D2E"/>
          </a:solidFill>
          <a:ln>
            <a:solidFill>
              <a:srgbClr val="25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36592" y="4306824"/>
            <a:ext cx="2697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4BB5F0"/>
                </a:solidFill>
              </a:rPr>
              <a:t>WHAT MAKES IT USEFUL</a:t>
            </a:r>
          </a:p>
          <a:p>
            <a:pPr>
              <a:spcBef>
                <a:spcPts val="600"/>
              </a:spcBef>
            </a:pPr>
            <a:r>
              <a:rPr sz="1230">
                <a:solidFill>
                  <a:srgbClr val="F5F9FC"/>
                </a:solidFill>
              </a:rPr>
              <a:t>It converts technical reports into understandable next steps.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47304" y="4160520"/>
            <a:ext cx="3063240" cy="1325880"/>
          </a:xfrm>
          <a:prstGeom prst="roundRect">
            <a:avLst/>
          </a:prstGeom>
          <a:solidFill>
            <a:srgbClr val="0E1D2E"/>
          </a:solidFill>
          <a:ln>
            <a:solidFill>
              <a:srgbClr val="25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30183" y="4306824"/>
            <a:ext cx="2697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EF5B64"/>
                </a:solidFill>
              </a:rPr>
              <a:t>WHAT MAKES IT SAFE</a:t>
            </a:r>
          </a:p>
          <a:p>
            <a:pPr>
              <a:spcBef>
                <a:spcPts val="600"/>
              </a:spcBef>
            </a:pPr>
            <a:r>
              <a:rPr sz="1230">
                <a:solidFill>
                  <a:srgbClr val="F5F9FC"/>
                </a:solidFill>
              </a:rPr>
              <a:t>AI escalates uncertainty and danger instead of pretending to be a doctor.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4B8CA"/>
                </a:solidFill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6D6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F5F9FC"/>
                </a:solidFill>
              </a:rPr>
              <a:t>Inside the AI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4B8CA"/>
                </a:solidFill>
              </a:rPr>
              <a:t>A hybrid architecture: AI for understanding + rules for safety + humans for decisions.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2514600" cy="1874519"/>
          </a:xfrm>
          <a:prstGeom prst="roundRect">
            <a:avLst/>
          </a:prstGeom>
          <a:solidFill>
            <a:srgbClr val="0E1D2E"/>
          </a:solidFill>
          <a:ln>
            <a:solidFill>
              <a:srgbClr val="25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563624"/>
            <a:ext cx="2148840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4BB5F0"/>
                </a:solidFill>
              </a:rPr>
              <a:t>INPUT LAYER</a:t>
            </a:r>
          </a:p>
          <a:p>
            <a:pPr>
              <a:spcBef>
                <a:spcPts val="600"/>
              </a:spcBef>
            </a:pPr>
            <a:r>
              <a:rPr sz="1230">
                <a:solidFill>
                  <a:srgbClr val="F5F9FC"/>
                </a:solidFill>
              </a:rPr>
              <a:t>Voice / text
Report image
Vitals
Basic history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417320"/>
            <a:ext cx="2514600" cy="1874519"/>
          </a:xfrm>
          <a:prstGeom prst="roundRect">
            <a:avLst/>
          </a:prstGeom>
          <a:solidFill>
            <a:srgbClr val="0E1D2E"/>
          </a:solidFill>
          <a:ln>
            <a:solidFill>
              <a:srgbClr val="25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29000" y="1563624"/>
            <a:ext cx="2148840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26D6B1"/>
                </a:solidFill>
              </a:rPr>
              <a:t>UNDERSTANDING</a:t>
            </a:r>
          </a:p>
          <a:p>
            <a:pPr>
              <a:spcBef>
                <a:spcPts val="600"/>
              </a:spcBef>
            </a:pPr>
            <a:r>
              <a:rPr sz="1230" dirty="0">
                <a:solidFill>
                  <a:srgbClr val="F5F9FC"/>
                </a:solidFill>
              </a:rPr>
              <a:t>Speech-to-text
NLP symptom extraction
OCR + report parsing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1417320"/>
            <a:ext cx="2514600" cy="1874519"/>
          </a:xfrm>
          <a:prstGeom prst="roundRect">
            <a:avLst/>
          </a:prstGeom>
          <a:solidFill>
            <a:srgbClr val="0E1D2E"/>
          </a:solidFill>
          <a:ln>
            <a:solidFill>
              <a:srgbClr val="25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80760" y="1563624"/>
            <a:ext cx="2148840" cy="11218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F7BA4D"/>
                </a:solidFill>
              </a:rPr>
              <a:t>REASONING</a:t>
            </a:r>
          </a:p>
          <a:p>
            <a:pPr>
              <a:spcBef>
                <a:spcPts val="600"/>
              </a:spcBef>
            </a:pPr>
            <a:r>
              <a:rPr lang="en-US" sz="1230" dirty="0">
                <a:solidFill>
                  <a:srgbClr val="F5F9FC"/>
                </a:solidFill>
              </a:rPr>
              <a:t>Clinical f</a:t>
            </a:r>
            <a:r>
              <a:rPr sz="1230" dirty="0">
                <a:solidFill>
                  <a:srgbClr val="F5F9FC"/>
                </a:solidFill>
              </a:rPr>
              <a:t>eature extraction
Risk </a:t>
            </a:r>
            <a:r>
              <a:rPr lang="en-US" sz="1230" dirty="0">
                <a:solidFill>
                  <a:srgbClr val="F5F9FC"/>
                </a:solidFill>
              </a:rPr>
              <a:t>stratification model</a:t>
            </a:r>
            <a:r>
              <a:rPr sz="1230" dirty="0">
                <a:solidFill>
                  <a:srgbClr val="F5F9FC"/>
                </a:solidFill>
              </a:rPr>
              <a:t>
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49640" y="1417320"/>
            <a:ext cx="2971800" cy="1874519"/>
          </a:xfrm>
          <a:prstGeom prst="roundRect">
            <a:avLst/>
          </a:prstGeom>
          <a:solidFill>
            <a:srgbClr val="0E1D2E"/>
          </a:solidFill>
          <a:ln>
            <a:solidFill>
              <a:srgbClr val="25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32519" y="1563624"/>
            <a:ext cx="2606040" cy="1388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EF5B64"/>
                </a:solidFill>
              </a:rPr>
              <a:t>DECISION SUPPORT</a:t>
            </a:r>
          </a:p>
          <a:p>
            <a:pPr>
              <a:spcBef>
                <a:spcPts val="600"/>
              </a:spcBef>
            </a:pPr>
            <a:r>
              <a:rPr lang="en-US" sz="1230" dirty="0">
                <a:solidFill>
                  <a:srgbClr val="F5F9FC"/>
                </a:solidFill>
              </a:rPr>
              <a:t>Risk: Low / Medium / High</a:t>
            </a:r>
          </a:p>
          <a:p>
            <a:pPr>
              <a:spcBef>
                <a:spcPts val="600"/>
              </a:spcBef>
            </a:pPr>
            <a:r>
              <a:rPr lang="en-US" sz="1230" dirty="0">
                <a:solidFill>
                  <a:srgbClr val="F5F9FC"/>
                </a:solidFill>
              </a:rPr>
              <a:t>Why: Key contributing factors</a:t>
            </a:r>
          </a:p>
          <a:p>
            <a:pPr>
              <a:spcBef>
                <a:spcPts val="600"/>
              </a:spcBef>
            </a:pPr>
            <a:r>
              <a:rPr lang="en-US" sz="1230" dirty="0">
                <a:solidFill>
                  <a:srgbClr val="F5F9FC"/>
                </a:solidFill>
              </a:rPr>
              <a:t>Next step: Consultation / Urgent care</a:t>
            </a:r>
          </a:p>
          <a:p>
            <a:pPr>
              <a:spcBef>
                <a:spcPts val="600"/>
              </a:spcBef>
            </a:pPr>
            <a:r>
              <a:rPr lang="en-US" sz="1230" dirty="0">
                <a:solidFill>
                  <a:srgbClr val="F5F9FC"/>
                </a:solidFill>
              </a:rPr>
              <a:t>Escalation when required</a:t>
            </a:r>
            <a:endParaRPr sz="1230" dirty="0">
              <a:solidFill>
                <a:srgbClr val="F5F9FC"/>
              </a:solidFill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3108960" y="2359152"/>
            <a:ext cx="128016" cy="0"/>
          </a:xfrm>
          <a:prstGeom prst="line">
            <a:avLst/>
          </a:prstGeom>
          <a:ln w="25400">
            <a:solidFill>
              <a:srgbClr val="26D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760720" y="2359152"/>
            <a:ext cx="128016" cy="0"/>
          </a:xfrm>
          <a:prstGeom prst="line">
            <a:avLst/>
          </a:prstGeom>
          <a:ln w="25400">
            <a:solidFill>
              <a:srgbClr val="26D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412480" y="2359152"/>
            <a:ext cx="128016" cy="0"/>
          </a:xfrm>
          <a:prstGeom prst="line">
            <a:avLst/>
          </a:prstGeom>
          <a:ln w="25400">
            <a:solidFill>
              <a:srgbClr val="26D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" y="3794760"/>
            <a:ext cx="3337560" cy="1508760"/>
          </a:xfrm>
          <a:prstGeom prst="roundRect">
            <a:avLst/>
          </a:prstGeom>
          <a:solidFill>
            <a:srgbClr val="0E1D2E"/>
          </a:solidFill>
          <a:ln>
            <a:solidFill>
              <a:srgbClr val="25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3941064"/>
            <a:ext cx="297180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4BB5F0"/>
                </a:solidFill>
              </a:rPr>
              <a:t>OFFLINE / LOW-BANDWIDTH</a:t>
            </a:r>
          </a:p>
          <a:p>
            <a:pPr>
              <a:spcBef>
                <a:spcPts val="600"/>
              </a:spcBef>
            </a:pPr>
            <a:r>
              <a:rPr sz="1230">
                <a:solidFill>
                  <a:srgbClr val="F5F9FC"/>
                </a:solidFill>
              </a:rPr>
              <a:t>Cache intake locally. Sync reports and alerts when connectivity returns.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25696" y="3794760"/>
            <a:ext cx="3337560" cy="1508760"/>
          </a:xfrm>
          <a:prstGeom prst="roundRect">
            <a:avLst/>
          </a:prstGeom>
          <a:solidFill>
            <a:srgbClr val="0E1D2E"/>
          </a:solidFill>
          <a:ln>
            <a:solidFill>
              <a:srgbClr val="25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08576" y="3941064"/>
            <a:ext cx="297180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6D6B1"/>
                </a:solidFill>
              </a:rPr>
              <a:t>EXPLAINABLE OUTPUT</a:t>
            </a:r>
          </a:p>
          <a:p>
            <a:pPr>
              <a:spcBef>
                <a:spcPts val="600"/>
              </a:spcBef>
            </a:pPr>
            <a:r>
              <a:rPr sz="1230">
                <a:solidFill>
                  <a:srgbClr val="F5F9FC"/>
                </a:solidFill>
              </a:rPr>
              <a:t>Show which symptoms / report values triggered a flag — not a black-box answer.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74152" y="3794760"/>
            <a:ext cx="3337560" cy="1508760"/>
          </a:xfrm>
          <a:prstGeom prst="roundRect">
            <a:avLst/>
          </a:prstGeom>
          <a:solidFill>
            <a:srgbClr val="0E1D2E"/>
          </a:solidFill>
          <a:ln>
            <a:solidFill>
              <a:srgbClr val="25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57031" y="3941064"/>
            <a:ext cx="297180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EF5B64"/>
                </a:solidFill>
              </a:rPr>
              <a:t>HUMAN-IN-THE-LOOP</a:t>
            </a:r>
          </a:p>
          <a:p>
            <a:pPr>
              <a:spcBef>
                <a:spcPts val="600"/>
              </a:spcBef>
            </a:pPr>
            <a:r>
              <a:rPr sz="1230">
                <a:solidFill>
                  <a:srgbClr val="F5F9FC"/>
                </a:solidFill>
              </a:rPr>
              <a:t>High-risk or uncertain cases go to a qualified professional.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4B8CA"/>
                </a:solidFill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6D6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5816016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900" b="1" dirty="0">
                <a:solidFill>
                  <a:srgbClr val="F5F9FC"/>
                </a:solidFill>
              </a:rPr>
              <a:t>Live Prototype — From Input to Care</a:t>
            </a:r>
            <a:endParaRPr sz="2900" b="1" dirty="0">
              <a:solidFill>
                <a:srgbClr val="F5F9F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2834366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300" dirty="0">
                <a:solidFill>
                  <a:srgbClr val="A4B8CA"/>
                </a:solidFill>
              </a:rPr>
              <a:t>A complete patient journey in seconds.</a:t>
            </a:r>
            <a:endParaRPr sz="1300" dirty="0">
              <a:solidFill>
                <a:srgbClr val="A4B8CA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224528" y="1261872"/>
            <a:ext cx="3749039" cy="5074920"/>
          </a:xfrm>
          <a:prstGeom prst="roundRect">
            <a:avLst/>
          </a:prstGeom>
          <a:solidFill>
            <a:srgbClr val="030910"/>
          </a:solidFill>
          <a:ln>
            <a:solidFill>
              <a:srgbClr val="4A6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0" y="1572768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26D6B1"/>
                </a:solidFill>
              </a:rPr>
              <a:t>SWASTHYA SETU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011680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A4B8CA"/>
                </a:solidFill>
              </a:rPr>
              <a:t>Patient: 42 yrs • Rural Assam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450592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5F9FC"/>
                </a:solidFill>
              </a:rPr>
              <a:t>Symptoms: fever + weakness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852928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5F9FC"/>
                </a:solidFill>
              </a:rPr>
              <a:t>CBC report 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337560"/>
            <a:ext cx="3063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A4B8CA"/>
                </a:solidFill>
              </a:rPr>
              <a:t>PRELIMINARY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657600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1">
                <a:solidFill>
                  <a:srgbClr val="F7BA4D"/>
                </a:solidFill>
              </a:rPr>
              <a:t>MODERATE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224528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A4B8CA"/>
                </a:solidFill>
              </a:rPr>
              <a:t>Why?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31477" y="4526280"/>
            <a:ext cx="2544286" cy="6001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100" dirty="0">
                <a:solidFill>
                  <a:srgbClr val="F5F9FC"/>
                </a:solidFill>
              </a:rPr>
              <a:t>Key findings require professional review</a:t>
            </a:r>
            <a:r>
              <a:rPr sz="1100" b="0" dirty="0">
                <a:solidFill>
                  <a:srgbClr val="F5F9FC"/>
                </a:solidFill>
              </a:rPr>
              <a:t>.</a:t>
            </a:r>
            <a:r>
              <a:rPr lang="en-IN" sz="1100" dirty="0">
                <a:solidFill>
                  <a:srgbClr val="F5F9FC"/>
                </a:solidFill>
              </a:rPr>
              <a:t> </a:t>
            </a:r>
          </a:p>
          <a:p>
            <a:pPr algn="ctr"/>
            <a:endParaRPr lang="en-IN" sz="11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en-IN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Consult health professional</a:t>
            </a:r>
            <a:endParaRPr sz="1100" b="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0" y="5230368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EF5B64"/>
                </a:solidFill>
              </a:rPr>
              <a:t>⚠ Red flag detected?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5559552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EF5B64"/>
                </a:solidFill>
              </a:rPr>
              <a:t>If severe symptoms → urgent care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1600200"/>
            <a:ext cx="3154680" cy="3566160"/>
          </a:xfrm>
          <a:prstGeom prst="roundRect">
            <a:avLst/>
          </a:prstGeom>
          <a:solidFill>
            <a:srgbClr val="0E1D2E"/>
          </a:solidFill>
          <a:ln>
            <a:solidFill>
              <a:srgbClr val="25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1746504"/>
            <a:ext cx="2788920" cy="1920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26D6B1"/>
                </a:solidFill>
              </a:rPr>
              <a:t>DEMO FLOW</a:t>
            </a:r>
          </a:p>
          <a:p>
            <a:pPr>
              <a:spcBef>
                <a:spcPts val="600"/>
              </a:spcBef>
            </a:pPr>
            <a:r>
              <a:rPr sz="1230" dirty="0">
                <a:solidFill>
                  <a:srgbClr val="F5F9FC"/>
                </a:solidFill>
              </a:rPr>
              <a:t>1. Speak symptoms
2. Upload </a:t>
            </a:r>
            <a:r>
              <a:rPr lang="en-US" sz="1230" dirty="0">
                <a:solidFill>
                  <a:srgbClr val="F5F9FC"/>
                </a:solidFill>
              </a:rPr>
              <a:t>lab report</a:t>
            </a:r>
            <a:r>
              <a:rPr sz="1230" dirty="0">
                <a:solidFill>
                  <a:srgbClr val="F5F9FC"/>
                </a:solidFill>
              </a:rPr>
              <a:t>
3. OCR extracts values
4. AI </a:t>
            </a:r>
            <a:r>
              <a:rPr lang="en-US" sz="1230" dirty="0">
                <a:solidFill>
                  <a:srgbClr val="F5F9FC"/>
                </a:solidFill>
              </a:rPr>
              <a:t>performs risk stratification</a:t>
            </a:r>
            <a:r>
              <a:rPr sz="1230" dirty="0">
                <a:solidFill>
                  <a:srgbClr val="F5F9FC"/>
                </a:solidFill>
              </a:rPr>
              <a:t>
5. </a:t>
            </a:r>
            <a:r>
              <a:rPr lang="en-US" sz="1230" dirty="0">
                <a:solidFill>
                  <a:srgbClr val="F5F9FC"/>
                </a:solidFill>
              </a:rPr>
              <a:t>AI explains the result</a:t>
            </a:r>
            <a:r>
              <a:rPr sz="1230" dirty="0">
                <a:solidFill>
                  <a:srgbClr val="F5F9FC"/>
                </a:solidFill>
              </a:rPr>
              <a:t>
6. High-risk case</a:t>
            </a:r>
            <a:r>
              <a:rPr lang="en-US" sz="1230" dirty="0">
                <a:solidFill>
                  <a:srgbClr val="F5F9FC"/>
                </a:solidFill>
              </a:rPr>
              <a:t>s → clinician</a:t>
            </a:r>
            <a:endParaRPr sz="1230" dirty="0">
              <a:solidFill>
                <a:srgbClr val="F5F9FC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275320" y="1600200"/>
            <a:ext cx="3154680" cy="3566160"/>
          </a:xfrm>
          <a:prstGeom prst="roundRect">
            <a:avLst/>
          </a:prstGeom>
          <a:solidFill>
            <a:srgbClr val="0E1D2E"/>
          </a:solidFill>
          <a:ln>
            <a:solidFill>
              <a:srgbClr val="25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58200" y="1746504"/>
            <a:ext cx="2788920" cy="2026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F7BA4D"/>
                </a:solidFill>
              </a:rPr>
              <a:t>THE “WOW” MOMENT</a:t>
            </a:r>
            <a:endParaRPr lang="en-US" sz="1500" b="1" dirty="0">
              <a:solidFill>
                <a:srgbClr val="F7BA4D"/>
              </a:solidFill>
            </a:endParaRPr>
          </a:p>
          <a:p>
            <a:r>
              <a:rPr lang="en-US" sz="1230" dirty="0">
                <a:solidFill>
                  <a:srgbClr val="F5F9FC"/>
                </a:solidFill>
              </a:rPr>
              <a:t>Judge changes an input and instantly sees:</a:t>
            </a:r>
            <a:r>
              <a:rPr sz="1230" dirty="0">
                <a:solidFill>
                  <a:srgbClr val="F5F9FC"/>
                </a:solidFill>
              </a:rPr>
              <a:t>
• </a:t>
            </a:r>
            <a:r>
              <a:rPr lang="en-US" sz="1230" dirty="0">
                <a:solidFill>
                  <a:srgbClr val="F5F9FC"/>
                </a:solidFill>
              </a:rPr>
              <a:t>Updated</a:t>
            </a:r>
            <a:r>
              <a:rPr sz="1230" dirty="0">
                <a:solidFill>
                  <a:srgbClr val="F5F9FC"/>
                </a:solidFill>
              </a:rPr>
              <a:t> risk</a:t>
            </a:r>
            <a:r>
              <a:rPr lang="en-US" sz="1230" dirty="0">
                <a:solidFill>
                  <a:srgbClr val="F5F9FC"/>
                </a:solidFill>
              </a:rPr>
              <a:t> level</a:t>
            </a:r>
            <a:r>
              <a:rPr sz="1230" dirty="0">
                <a:solidFill>
                  <a:srgbClr val="F5F9FC"/>
                </a:solidFill>
              </a:rPr>
              <a:t>
• </a:t>
            </a:r>
            <a:r>
              <a:rPr lang="en-US" sz="1230" dirty="0">
                <a:solidFill>
                  <a:srgbClr val="F5F9FC"/>
                </a:solidFill>
              </a:rPr>
              <a:t>Updated</a:t>
            </a:r>
            <a:r>
              <a:rPr sz="1230" dirty="0">
                <a:solidFill>
                  <a:srgbClr val="F5F9FC"/>
                </a:solidFill>
              </a:rPr>
              <a:t> explanation
• </a:t>
            </a:r>
            <a:r>
              <a:rPr lang="en-US" sz="1230" dirty="0">
                <a:solidFill>
                  <a:srgbClr val="F5F9FC"/>
                </a:solidFill>
              </a:rPr>
              <a:t>Updated care </a:t>
            </a:r>
            <a:r>
              <a:rPr sz="1230" dirty="0">
                <a:solidFill>
                  <a:srgbClr val="F5F9FC"/>
                </a:solidFill>
              </a:rPr>
              <a:t>pat</a:t>
            </a:r>
            <a:r>
              <a:rPr lang="en-US" sz="1230" dirty="0">
                <a:solidFill>
                  <a:srgbClr val="F5F9FC"/>
                </a:solidFill>
              </a:rPr>
              <a:t>hway</a:t>
            </a:r>
            <a:r>
              <a:rPr sz="1230" dirty="0">
                <a:solidFill>
                  <a:srgbClr val="F5F9FC"/>
                </a:solidFill>
              </a:rPr>
              <a:t>
</a:t>
            </a:r>
            <a:r>
              <a:rPr lang="en-US" sz="1230" dirty="0">
                <a:solidFill>
                  <a:srgbClr val="F5F9FC"/>
                </a:solidFill>
              </a:rPr>
              <a:t>A live, adaptive healthcare workflow — not a static chatbot.</a:t>
            </a:r>
            <a:endParaRPr sz="1230" dirty="0">
              <a:solidFill>
                <a:srgbClr val="F5F9FC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78992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4B8CA"/>
                </a:solidFill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6D6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5505482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 dirty="0">
                <a:solidFill>
                  <a:srgbClr val="F5F9FC"/>
                </a:solidFill>
              </a:rPr>
              <a:t>Why</a:t>
            </a:r>
            <a:r>
              <a:rPr lang="en-US" sz="2900" b="1" dirty="0">
                <a:solidFill>
                  <a:srgbClr val="F5F9FC"/>
                </a:solidFill>
              </a:rPr>
              <a:t> SWASTHYA SETU Is Different?</a:t>
            </a:r>
            <a:endParaRPr sz="2900" b="1" dirty="0">
              <a:solidFill>
                <a:srgbClr val="F5F9F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4B8CA"/>
                </a:solidFill>
              </a:rPr>
              <a:t>We are solving the workflow, not just adding AI.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71600"/>
            <a:ext cx="3474720" cy="4480560"/>
          </a:xfrm>
          <a:prstGeom prst="roundRect">
            <a:avLst/>
          </a:prstGeom>
          <a:solidFill>
            <a:srgbClr val="0E1D2E"/>
          </a:solidFill>
          <a:ln>
            <a:solidFill>
              <a:srgbClr val="25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517904"/>
            <a:ext cx="3108960" cy="1654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1" dirty="0">
                <a:solidFill>
                  <a:srgbClr val="EF5B64"/>
                </a:solidFill>
              </a:rPr>
              <a:t>GENERIC</a:t>
            </a:r>
            <a:r>
              <a:rPr sz="1500" b="1" dirty="0">
                <a:solidFill>
                  <a:srgbClr val="EF5B64"/>
                </a:solidFill>
              </a:rPr>
              <a:t> HEALTH CHATBOT</a:t>
            </a:r>
          </a:p>
          <a:p>
            <a:pPr>
              <a:spcBef>
                <a:spcPts val="600"/>
              </a:spcBef>
            </a:pPr>
            <a:r>
              <a:rPr sz="1230" dirty="0">
                <a:solidFill>
                  <a:srgbClr val="F5F9FC"/>
                </a:solidFill>
              </a:rPr>
              <a:t>❌ Text conversation only
❌ Generic advice
❌ No report understanding
❌ No structured escalation
❌ Depends heavily on connectivity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2544" y="1371600"/>
            <a:ext cx="3474720" cy="4480560"/>
          </a:xfrm>
          <a:prstGeom prst="roundRect">
            <a:avLst/>
          </a:prstGeom>
          <a:solidFill>
            <a:srgbClr val="0E1D2E"/>
          </a:solidFill>
          <a:ln>
            <a:solidFill>
              <a:srgbClr val="25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35424" y="1517904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6D6B1"/>
                </a:solidFill>
              </a:rPr>
              <a:t>SWASTHYA SETU</a:t>
            </a:r>
          </a:p>
          <a:p>
            <a:pPr>
              <a:spcBef>
                <a:spcPts val="600"/>
              </a:spcBef>
            </a:pPr>
            <a:r>
              <a:rPr sz="1230">
                <a:solidFill>
                  <a:srgbClr val="F5F9FC"/>
                </a:solidFill>
              </a:rPr>
              <a:t>✓ Voice + text
✓ Lab-report OCR
✓ Multi-signal risk screening
✓ Explainable flags
✓ Human escalation
✓ Low-bandwidth workflow
✓ Local-language ready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0727" y="1371600"/>
            <a:ext cx="3474720" cy="4480560"/>
          </a:xfrm>
          <a:prstGeom prst="roundRect">
            <a:avLst/>
          </a:prstGeom>
          <a:solidFill>
            <a:srgbClr val="0E1D2E"/>
          </a:solidFill>
          <a:ln>
            <a:solidFill>
              <a:srgbClr val="25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93607" y="1517904"/>
            <a:ext cx="3108960" cy="26422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4BB5F0"/>
                </a:solidFill>
              </a:rPr>
              <a:t>DEFENSIBLE ADVANTAGE</a:t>
            </a:r>
          </a:p>
          <a:p>
            <a:pPr>
              <a:spcBef>
                <a:spcPts val="600"/>
              </a:spcBef>
            </a:pPr>
            <a:r>
              <a:rPr sz="1230" dirty="0">
                <a:solidFill>
                  <a:srgbClr val="F5F9FC"/>
                </a:solidFill>
              </a:rPr>
              <a:t>Our </a:t>
            </a:r>
            <a:r>
              <a:rPr lang="en-US" sz="1230" dirty="0">
                <a:solidFill>
                  <a:srgbClr val="F5F9FC"/>
                </a:solidFill>
              </a:rPr>
              <a:t>advantage</a:t>
            </a:r>
            <a:r>
              <a:rPr sz="1230" dirty="0">
                <a:solidFill>
                  <a:srgbClr val="F5F9FC"/>
                </a:solidFill>
              </a:rPr>
              <a:t> is the workflow + rural data + clinician fee</a:t>
            </a:r>
            <a:r>
              <a:rPr lang="en-IN" sz="1230" dirty="0" err="1">
                <a:solidFill>
                  <a:srgbClr val="F5F9FC"/>
                </a:solidFill>
              </a:rPr>
              <a:t>dback</a:t>
            </a:r>
            <a:r>
              <a:rPr lang="en-IN" sz="1230" dirty="0">
                <a:solidFill>
                  <a:srgbClr val="F5F9FC"/>
                </a:solidFill>
              </a:rPr>
              <a:t> loop</a:t>
            </a:r>
            <a:r>
              <a:rPr sz="1230" dirty="0">
                <a:solidFill>
                  <a:srgbClr val="F5F9FC"/>
                </a:solidFill>
              </a:rPr>
              <a:t>.
Every validated interaction improve</a:t>
            </a:r>
            <a:r>
              <a:rPr lang="en-US" sz="1230" dirty="0">
                <a:solidFill>
                  <a:srgbClr val="F5F9FC"/>
                </a:solidFill>
              </a:rPr>
              <a:t>s</a:t>
            </a:r>
            <a:r>
              <a:rPr sz="1230" dirty="0">
                <a:solidFill>
                  <a:srgbClr val="F5F9FC"/>
                </a:solidFill>
              </a:rPr>
              <a:t>:
• </a:t>
            </a:r>
            <a:r>
              <a:rPr lang="en-US" sz="1230" dirty="0">
                <a:solidFill>
                  <a:srgbClr val="F5F9FC"/>
                </a:solidFill>
              </a:rPr>
              <a:t>T</a:t>
            </a:r>
            <a:r>
              <a:rPr sz="1230" dirty="0">
                <a:solidFill>
                  <a:srgbClr val="F5F9FC"/>
                </a:solidFill>
              </a:rPr>
              <a:t>riage rules
• </a:t>
            </a:r>
            <a:r>
              <a:rPr lang="en-US" sz="1230" dirty="0">
                <a:solidFill>
                  <a:srgbClr val="F5F9FC"/>
                </a:solidFill>
              </a:rPr>
              <a:t>R</a:t>
            </a:r>
            <a:r>
              <a:rPr sz="1230" dirty="0">
                <a:solidFill>
                  <a:srgbClr val="F5F9FC"/>
                </a:solidFill>
              </a:rPr>
              <a:t>eport extraction
• </a:t>
            </a:r>
            <a:r>
              <a:rPr lang="en-US" sz="1230" dirty="0">
                <a:solidFill>
                  <a:srgbClr val="F5F9FC"/>
                </a:solidFill>
              </a:rPr>
              <a:t>U</a:t>
            </a:r>
            <a:r>
              <a:rPr sz="1230" dirty="0">
                <a:solidFill>
                  <a:srgbClr val="F5F9FC"/>
                </a:solidFill>
              </a:rPr>
              <a:t>sability
• </a:t>
            </a:r>
            <a:r>
              <a:rPr lang="en-US" sz="1230" dirty="0">
                <a:solidFill>
                  <a:srgbClr val="F5F9FC"/>
                </a:solidFill>
              </a:rPr>
              <a:t>L</a:t>
            </a:r>
            <a:r>
              <a:rPr sz="1230" dirty="0">
                <a:solidFill>
                  <a:srgbClr val="F5F9FC"/>
                </a:solidFill>
              </a:rPr>
              <a:t>ocal-language 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4B8CA"/>
                </a:solidFill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6D6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F5F9FC"/>
                </a:solidFill>
              </a:rPr>
              <a:t>Impact, Safety &amp;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4B8CA"/>
                </a:solidFill>
              </a:rPr>
              <a:t>A winning solution must be useful, measurable and responsible.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71600"/>
            <a:ext cx="3474720" cy="4480560"/>
          </a:xfrm>
          <a:prstGeom prst="roundRect">
            <a:avLst/>
          </a:prstGeom>
          <a:solidFill>
            <a:srgbClr val="0E1D2E"/>
          </a:solidFill>
          <a:ln>
            <a:solidFill>
              <a:srgbClr val="25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517904"/>
            <a:ext cx="3108960" cy="344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26D6B1"/>
                </a:solidFill>
              </a:rPr>
              <a:t>MEASURE IMPACT</a:t>
            </a:r>
          </a:p>
          <a:p>
            <a:pPr>
              <a:spcBef>
                <a:spcPts val="600"/>
              </a:spcBef>
            </a:pPr>
            <a:r>
              <a:rPr sz="1230" dirty="0">
                <a:solidFill>
                  <a:srgbClr val="F5F9FC"/>
                </a:solidFill>
              </a:rPr>
              <a:t>ACCESS
• </a:t>
            </a:r>
            <a:r>
              <a:rPr lang="en-US" sz="1230" dirty="0">
                <a:solidFill>
                  <a:srgbClr val="F5F9FC"/>
                </a:solidFill>
              </a:rPr>
              <a:t>unnecessary travel avoided when appropriate</a:t>
            </a:r>
            <a:r>
              <a:rPr sz="1230" dirty="0">
                <a:solidFill>
                  <a:srgbClr val="F5F9FC"/>
                </a:solidFill>
              </a:rPr>
              <a:t>
SPEED
• time from report upload → guidance
UNDERSTANDING
• patient comprehension
SAFETY
• clinician-reviewed escalation accuracy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2544" y="1371600"/>
            <a:ext cx="3474720" cy="4480560"/>
          </a:xfrm>
          <a:prstGeom prst="roundRect">
            <a:avLst/>
          </a:prstGeom>
          <a:solidFill>
            <a:srgbClr val="0E1D2E"/>
          </a:solidFill>
          <a:ln>
            <a:solidFill>
              <a:srgbClr val="25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35424" y="1517904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EF5B64"/>
                </a:solidFill>
              </a:rPr>
              <a:t>SAFETY BY DESIGN</a:t>
            </a:r>
          </a:p>
          <a:p>
            <a:pPr>
              <a:spcBef>
                <a:spcPts val="600"/>
              </a:spcBef>
            </a:pPr>
            <a:r>
              <a:rPr sz="1230">
                <a:solidFill>
                  <a:srgbClr val="F5F9FC"/>
                </a:solidFill>
              </a:rPr>
              <a:t>AI never claims a confirmed diagnosis.
Emergency red flags → urgent-care guidance.
Uncertain/high-risk cases → human review.
Minimum necessary health data + encryption.
Clinical validation before real deployment.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0727" y="1371600"/>
            <a:ext cx="3474720" cy="4480560"/>
          </a:xfrm>
          <a:prstGeom prst="roundRect">
            <a:avLst/>
          </a:prstGeom>
          <a:solidFill>
            <a:srgbClr val="0E1D2E"/>
          </a:solidFill>
          <a:ln>
            <a:solidFill>
              <a:srgbClr val="25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93607" y="1517904"/>
            <a:ext cx="3108960" cy="2908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F7BA4D"/>
                </a:solidFill>
              </a:rPr>
              <a:t>SCALE PATH</a:t>
            </a:r>
          </a:p>
          <a:p>
            <a:pPr>
              <a:spcBef>
                <a:spcPts val="600"/>
              </a:spcBef>
            </a:pPr>
            <a:r>
              <a:rPr sz="1230" dirty="0">
                <a:solidFill>
                  <a:srgbClr val="F5F9FC"/>
                </a:solidFill>
              </a:rPr>
              <a:t>PHASE 1 — </a:t>
            </a:r>
            <a:r>
              <a:rPr lang="en-US" sz="1230" dirty="0">
                <a:solidFill>
                  <a:srgbClr val="F5F9FC"/>
                </a:solidFill>
              </a:rPr>
              <a:t>Prototype Validation</a:t>
            </a:r>
            <a:r>
              <a:rPr sz="1230" dirty="0">
                <a:solidFill>
                  <a:srgbClr val="F5F9FC"/>
                </a:solidFill>
              </a:rPr>
              <a:t>
↓
PHASE 2 — Local </a:t>
            </a:r>
            <a:r>
              <a:rPr lang="en-US" sz="1230" dirty="0">
                <a:solidFill>
                  <a:srgbClr val="F5F9FC"/>
                </a:solidFill>
              </a:rPr>
              <a:t>C</a:t>
            </a:r>
            <a:r>
              <a:rPr sz="1230" dirty="0">
                <a:solidFill>
                  <a:srgbClr val="F5F9FC"/>
                </a:solidFill>
              </a:rPr>
              <a:t>linic </a:t>
            </a:r>
            <a:r>
              <a:rPr lang="en-US" sz="1230" dirty="0">
                <a:solidFill>
                  <a:srgbClr val="F5F9FC"/>
                </a:solidFill>
              </a:rPr>
              <a:t>P</a:t>
            </a:r>
            <a:r>
              <a:rPr sz="1230" dirty="0">
                <a:solidFill>
                  <a:srgbClr val="F5F9FC"/>
                </a:solidFill>
              </a:rPr>
              <a:t>ilot
↓
PHASE 3 — District </a:t>
            </a:r>
            <a:r>
              <a:rPr lang="en-US" sz="1230" dirty="0">
                <a:solidFill>
                  <a:srgbClr val="F5F9FC"/>
                </a:solidFill>
              </a:rPr>
              <a:t>H</a:t>
            </a:r>
            <a:r>
              <a:rPr sz="1230" dirty="0">
                <a:solidFill>
                  <a:srgbClr val="F5F9FC"/>
                </a:solidFill>
              </a:rPr>
              <a:t>ealth-</a:t>
            </a:r>
            <a:r>
              <a:rPr lang="en-US" sz="1230" dirty="0">
                <a:solidFill>
                  <a:srgbClr val="F5F9FC"/>
                </a:solidFill>
              </a:rPr>
              <a:t>W</a:t>
            </a:r>
            <a:r>
              <a:rPr sz="1230" dirty="0">
                <a:solidFill>
                  <a:srgbClr val="F5F9FC"/>
                </a:solidFill>
              </a:rPr>
              <a:t>orker </a:t>
            </a:r>
            <a:r>
              <a:rPr lang="en-US" sz="1230" dirty="0">
                <a:solidFill>
                  <a:srgbClr val="F5F9FC"/>
                </a:solidFill>
              </a:rPr>
              <a:t>N</a:t>
            </a:r>
            <a:r>
              <a:rPr sz="1230" dirty="0">
                <a:solidFill>
                  <a:srgbClr val="F5F9FC"/>
                </a:solidFill>
              </a:rPr>
              <a:t>etwork
↓
PHASE 4 — Multi-</a:t>
            </a:r>
            <a:r>
              <a:rPr lang="en-US" sz="1230" dirty="0">
                <a:solidFill>
                  <a:srgbClr val="F5F9FC"/>
                </a:solidFill>
              </a:rPr>
              <a:t>S</a:t>
            </a:r>
            <a:r>
              <a:rPr sz="1230" dirty="0">
                <a:solidFill>
                  <a:srgbClr val="F5F9FC"/>
                </a:solidFill>
              </a:rPr>
              <a:t>tate </a:t>
            </a:r>
            <a:r>
              <a:rPr lang="en-US" sz="1230" dirty="0">
                <a:solidFill>
                  <a:srgbClr val="F5F9FC"/>
                </a:solidFill>
              </a:rPr>
              <a:t>R</a:t>
            </a:r>
            <a:r>
              <a:rPr sz="1230" dirty="0">
                <a:solidFill>
                  <a:srgbClr val="F5F9FC"/>
                </a:solidFill>
              </a:rPr>
              <a:t>ural </a:t>
            </a:r>
            <a:r>
              <a:rPr lang="en-US" sz="1230" dirty="0">
                <a:solidFill>
                  <a:srgbClr val="F5F9FC"/>
                </a:solidFill>
              </a:rPr>
              <a:t>D</a:t>
            </a:r>
            <a:r>
              <a:rPr sz="1230" dirty="0">
                <a:solidFill>
                  <a:srgbClr val="F5F9FC"/>
                </a:solidFill>
              </a:rPr>
              <a:t>eployment
Potential ecosystem: </a:t>
            </a:r>
            <a:r>
              <a:rPr lang="en-US" sz="1230" dirty="0">
                <a:solidFill>
                  <a:srgbClr val="F5F9FC"/>
                </a:solidFill>
              </a:rPr>
              <a:t>Cl</a:t>
            </a:r>
            <a:r>
              <a:rPr sz="1230" dirty="0">
                <a:solidFill>
                  <a:srgbClr val="F5F9FC"/>
                </a:solidFill>
              </a:rPr>
              <a:t>inics + NGOs + </a:t>
            </a:r>
            <a:r>
              <a:rPr lang="en-US" sz="1230" dirty="0">
                <a:solidFill>
                  <a:srgbClr val="F5F9FC"/>
                </a:solidFill>
              </a:rPr>
              <a:t>H</a:t>
            </a:r>
            <a:r>
              <a:rPr sz="1230" dirty="0">
                <a:solidFill>
                  <a:srgbClr val="F5F9FC"/>
                </a:solidFill>
              </a:rPr>
              <a:t>ealth </a:t>
            </a:r>
            <a:r>
              <a:rPr lang="en-US" sz="1230" dirty="0">
                <a:solidFill>
                  <a:srgbClr val="F5F9FC"/>
                </a:solidFill>
              </a:rPr>
              <a:t>W</a:t>
            </a:r>
            <a:r>
              <a:rPr sz="1230" dirty="0">
                <a:solidFill>
                  <a:srgbClr val="F5F9FC"/>
                </a:solidFill>
              </a:rPr>
              <a:t>orkers + </a:t>
            </a:r>
            <a:r>
              <a:rPr lang="en-US" sz="1230" dirty="0">
                <a:solidFill>
                  <a:srgbClr val="F5F9FC"/>
                </a:solidFill>
              </a:rPr>
              <a:t>P</a:t>
            </a:r>
            <a:r>
              <a:rPr sz="1230" dirty="0">
                <a:solidFill>
                  <a:srgbClr val="F5F9FC"/>
                </a:solidFill>
              </a:rPr>
              <a:t>ublic-</a:t>
            </a:r>
            <a:r>
              <a:rPr lang="en-US" sz="1230" dirty="0">
                <a:solidFill>
                  <a:srgbClr val="F5F9FC"/>
                </a:solidFill>
              </a:rPr>
              <a:t>H</a:t>
            </a:r>
            <a:r>
              <a:rPr sz="1230" dirty="0">
                <a:solidFill>
                  <a:srgbClr val="F5F9FC"/>
                </a:solidFill>
              </a:rPr>
              <a:t>ealth </a:t>
            </a:r>
            <a:r>
              <a:rPr lang="en-US" sz="1230" dirty="0">
                <a:solidFill>
                  <a:srgbClr val="F5F9FC"/>
                </a:solidFill>
              </a:rPr>
              <a:t>P</a:t>
            </a:r>
            <a:r>
              <a:rPr sz="1230" dirty="0">
                <a:solidFill>
                  <a:srgbClr val="F5F9FC"/>
                </a:solidFill>
              </a:rPr>
              <a:t>rograms.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4B8CA"/>
                </a:solidFill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6D6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300" b="1">
                <a:solidFill>
                  <a:srgbClr val="26D6B1"/>
                </a:solidFill>
              </a:rPr>
              <a:t>SWASTHYA SETU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6187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F5F9FC"/>
                </a:solidFill>
              </a:rPr>
              <a:t>Don’t bring every patient to the hospital first.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F7BA4D"/>
                </a:solidFill>
              </a:rPr>
              <a:t>Bring the first layer of understanding to the patient.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743200"/>
            <a:ext cx="3154680" cy="1417320"/>
          </a:xfrm>
          <a:prstGeom prst="roundRect">
            <a:avLst/>
          </a:prstGeom>
          <a:solidFill>
            <a:srgbClr val="0E1D2E"/>
          </a:solidFill>
          <a:ln>
            <a:solidFill>
              <a:srgbClr val="25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889504"/>
            <a:ext cx="278892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26D6B1"/>
                </a:solidFill>
              </a:rPr>
              <a:t>INNOVATION</a:t>
            </a:r>
          </a:p>
          <a:p>
            <a:pPr>
              <a:spcBef>
                <a:spcPts val="600"/>
              </a:spcBef>
            </a:pPr>
            <a:r>
              <a:rPr sz="1250" dirty="0">
                <a:solidFill>
                  <a:srgbClr val="F5F9FC"/>
                </a:solidFill>
              </a:rPr>
              <a:t>AI + OCR + risk </a:t>
            </a:r>
            <a:r>
              <a:rPr lang="en-US" sz="1250" dirty="0">
                <a:solidFill>
                  <a:srgbClr val="F5F9FC"/>
                </a:solidFill>
              </a:rPr>
              <a:t>stratification</a:t>
            </a:r>
            <a:r>
              <a:rPr sz="1250" dirty="0">
                <a:solidFill>
                  <a:srgbClr val="F5F9FC"/>
                </a:solidFill>
              </a:rPr>
              <a:t> + local-language voice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2743200"/>
            <a:ext cx="3154680" cy="1417320"/>
          </a:xfrm>
          <a:prstGeom prst="roundRect">
            <a:avLst/>
          </a:prstGeom>
          <a:solidFill>
            <a:srgbClr val="0E1D2E"/>
          </a:solidFill>
          <a:ln>
            <a:solidFill>
              <a:srgbClr val="25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09160" y="2889504"/>
            <a:ext cx="278892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4BB5F0"/>
                </a:solidFill>
              </a:rPr>
              <a:t>IMPACT</a:t>
            </a:r>
          </a:p>
          <a:p>
            <a:pPr>
              <a:spcBef>
                <a:spcPts val="600"/>
              </a:spcBef>
            </a:pPr>
            <a:r>
              <a:rPr lang="en-US" sz="1250" dirty="0">
                <a:solidFill>
                  <a:srgbClr val="F5F9FC"/>
                </a:solidFill>
              </a:rPr>
              <a:t>Reduce uncertainty, avoid unnecessary travel, and enable timely escalation.</a:t>
            </a:r>
            <a:endParaRPr sz="1250" dirty="0">
              <a:solidFill>
                <a:srgbClr val="F5F9FC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138160" y="2743200"/>
            <a:ext cx="3154680" cy="1417320"/>
          </a:xfrm>
          <a:prstGeom prst="roundRect">
            <a:avLst/>
          </a:prstGeom>
          <a:solidFill>
            <a:srgbClr val="0E1D2E"/>
          </a:solidFill>
          <a:ln>
            <a:solidFill>
              <a:srgbClr val="25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0" y="2889504"/>
            <a:ext cx="2788920" cy="5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F7BA4D"/>
                </a:solidFill>
              </a:rPr>
              <a:t>SCALE</a:t>
            </a:r>
          </a:p>
          <a:p>
            <a:pPr>
              <a:spcBef>
                <a:spcPts val="600"/>
              </a:spcBef>
            </a:pPr>
            <a:r>
              <a:rPr lang="en-IN" sz="1250" dirty="0">
                <a:solidFill>
                  <a:srgbClr val="F5F9FC"/>
                </a:solidFill>
              </a:rPr>
              <a:t>Village → District → Multi-State → India</a:t>
            </a:r>
            <a:endParaRPr sz="1250" dirty="0">
              <a:solidFill>
                <a:srgbClr val="F5F9FC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97280" y="4736592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F5F9FC"/>
                </a:solidFill>
              </a:rPr>
              <a:t>Our goal: make the right next step accessible before distance becomes the barrier.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5532120"/>
            <a:ext cx="8321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26D6B1"/>
                </a:solidFill>
              </a:rPr>
              <a:t>BUILD • VALIDATE • PILOT • 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4B8CA"/>
                </a:solidFill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904</Words>
  <Application>Microsoft Office PowerPoint</Application>
  <PresentationFormat>Widescreen</PresentationFormat>
  <Paragraphs>120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ACER</dc:creator>
  <cp:keywords/>
  <dc:description>generated using python-pptx</dc:description>
  <cp:lastModifiedBy>arshad hussain</cp:lastModifiedBy>
  <cp:revision>2</cp:revision>
  <dcterms:created xsi:type="dcterms:W3CDTF">2013-01-27T09:14:16Z</dcterms:created>
  <dcterms:modified xsi:type="dcterms:W3CDTF">2026-10-05T13:52:28Z</dcterms:modified>
  <cp:category/>
</cp:coreProperties>
</file>